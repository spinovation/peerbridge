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F2FE"/>
                </a:solidFill>
                <a:latin typeface="Inter"/>
              </a:defRPr>
            </a:pPr>
            <a:r>
              <a:t>PEER BRIDGE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Inter"/>
              </a:defRPr>
            </a:pPr>
            <a:r>
              <a:t>PRIVATE DEBT &amp; EQUITY ECOSYSTEM</a:t>
            </a:r>
          </a:p>
          <a:p>
            <a:pPr>
              <a:spcBef>
                <a:spcPts val="3000"/>
              </a:spcBef>
              <a:defRPr sz="1800">
                <a:solidFill>
                  <a:srgbClr val="A3A3A3"/>
                </a:solidFill>
                <a:latin typeface="Inter"/>
              </a:defRPr>
            </a:pPr>
            <a:r>
              <a:t>Full Technical Architecture Masterclass (Phase 1, Phase 2 &amp; Phase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A3A3"/>
                </a:solidFill>
                <a:latin typeface="Inter"/>
              </a:defRPr>
            </a:pPr>
            <a:r>
              <a:t>PROPRIETARY &amp; CONFIDENTIAL  •  PEER BRIDGE NETWORKS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Inter"/>
              </a:defRPr>
            </a:pPr>
            <a:r>
              <a:t>EXECUTIVE SUMMARY</a:t>
            </a:r>
          </a:p>
          <a:p>
            <a:pPr>
              <a:spcBef>
                <a:spcPts val="500"/>
              </a:spcBef>
              <a:defRPr sz="1200">
                <a:solidFill>
                  <a:srgbClr val="A3A3A3"/>
                </a:solidFill>
                <a:latin typeface="Inter"/>
              </a:defRPr>
            </a:pPr>
            <a:r>
              <a:t>Building decentralized commercial debt syndicates &amp; retail equity marketplaces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  <a:latin typeface="Inter"/>
              </a:defRPr>
            </a:pPr>
            <a:r>
              <a:t>•  The Capital Underwriting Paradigm Shift</a:t>
            </a:r>
          </a:p>
          <a:p>
            <a:pPr>
              <a:spcBef>
                <a:spcPts val="200"/>
              </a:spcBef>
              <a:defRPr sz="1100">
                <a:solidFill>
                  <a:srgbClr val="A3A3A3"/>
                </a:solidFill>
                <a:latin typeface="Inter"/>
              </a:defRPr>
            </a:pPr>
            <a:r>
              <a:t>Bypassing FICO scores which act as lagging indicators and penalize asset-rich but credit-thin founders. Integrating real-time paycheck structures and transactional analysis.</a:t>
            </a:r>
          </a:p>
          <a:p>
            <a:pPr>
              <a:spcBef>
                <a:spcPts val="1500"/>
              </a:spcBef>
              <a:defRPr sz="1600" b="1">
                <a:solidFill>
                  <a:srgbClr val="00F2FE"/>
                </a:solidFill>
                <a:latin typeface="Inter"/>
              </a:defRPr>
            </a:pPr>
            <a:r>
              <a:t>•  Next-Generation Financial Vetting</a:t>
            </a:r>
          </a:p>
          <a:p>
            <a:pPr>
              <a:spcBef>
                <a:spcPts val="200"/>
              </a:spcBef>
              <a:defRPr sz="1100">
                <a:solidFill>
                  <a:srgbClr val="A3A3A3"/>
                </a:solidFill>
                <a:latin typeface="Inter"/>
              </a:defRPr>
            </a:pPr>
            <a:r>
              <a:t>Leveraging ADP &amp; Paychex Payroll APIs for gross-to-net salary verification alongside Plaid transactional category parsing to calculate true discretionary cash flow.</a:t>
            </a:r>
          </a:p>
          <a:p>
            <a:pPr>
              <a:spcBef>
                <a:spcPts val="1500"/>
              </a:spcBef>
              <a:defRPr sz="1600" b="1">
                <a:solidFill>
                  <a:srgbClr val="00F2FE"/>
                </a:solidFill>
                <a:latin typeface="Inter"/>
              </a:defRPr>
            </a:pPr>
            <a:r>
              <a:t>•  End-to-End Automation Pipeline</a:t>
            </a:r>
          </a:p>
          <a:p>
            <a:pPr>
              <a:spcBef>
                <a:spcPts val="200"/>
              </a:spcBef>
              <a:defRPr sz="1100">
                <a:solidFill>
                  <a:srgbClr val="A3A3A3"/>
                </a:solidFill>
                <a:latin typeface="Inter"/>
              </a:defRPr>
            </a:pPr>
            <a:r>
              <a:t>Automating fractional Escrow Splits, Auto-Invest Sweeps, IRS Form 1099-INT interest tax compilation, and SEC Reg CF Form C filing sheets.</a:t>
            </a:r>
          </a:p>
          <a:p>
            <a:pPr>
              <a:spcBef>
                <a:spcPts val="1500"/>
              </a:spcBef>
              <a:defRPr sz="1600" b="1">
                <a:solidFill>
                  <a:srgbClr val="00F2FE"/>
                </a:solidFill>
                <a:latin typeface="Inter"/>
              </a:defRPr>
            </a:pPr>
            <a:r>
              <a:t>•  Phase 3 Autonomous AI Brokerage</a:t>
            </a:r>
          </a:p>
          <a:p>
            <a:pPr>
              <a:spcBef>
                <a:spcPts val="200"/>
              </a:spcBef>
              <a:defRPr sz="1100">
                <a:solidFill>
                  <a:srgbClr val="A3A3A3"/>
                </a:solidFill>
                <a:latin typeface="Inter"/>
              </a:defRPr>
            </a:pPr>
            <a:r>
              <a:t>Launching agent nodes (CapitalAgent, FounderAgent, AuditAgent) to negotiate rates, evaluate prospectuses, and auto-verify KYC credentials on the blockchain ledger.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400" b="1">
                <a:solidFill>
                  <a:srgbClr val="10B981"/>
                </a:solidFill>
                <a:latin typeface="Inter"/>
              </a:defRPr>
            </a:pPr>
            <a:r>
              <a:t>TECHNICAL CORE PILLARS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1. DECENTRALIZED DATA SWEEPS</a:t>
            </a:r>
            <a:br/>
            <a:r>
              <a:t>Real-time secure credentials handshake simulated directly in the client sandbox.</a:t>
            </a:r>
            <a:br/>
            <a:br/>
            <a:r>
              <a:t>2. AUTOMATED COMPLIANCE</a:t>
            </a:r>
            <a:br/>
            <a:r>
              <a:t>Form 1099-INT interactive preview compilers and one-click W-9 verification vaults.</a:t>
            </a:r>
            <a:br/>
            <a:br/>
            <a:r>
              <a:t>3. AI DEPLOYED AGENTS</a:t>
            </a:r>
            <a:br/>
            <a:r>
              <a:t>Autonomous negotiation routines generating cryptographic SHA-256 agreement signatures.</a:t>
            </a:r>
            <a:br/>
            <a:br/>
            <a:r>
              <a:t>4. PRODUCTION SPEED</a:t>
            </a:r>
            <a:br/>
            <a:r>
              <a:t>Built under Next.js Turbopack with 3.2s compile profiles and zero runtime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Inter"/>
              </a:defRPr>
            </a:pPr>
            <a:r>
              <a:t>PHASE 1: Foundational Infrastructure &amp; Design</a:t>
            </a:r>
          </a:p>
          <a:p>
            <a:pPr>
              <a:spcBef>
                <a:spcPts val="500"/>
              </a:spcBef>
              <a:defRPr sz="1200">
                <a:solidFill>
                  <a:srgbClr val="A3A3A3"/>
                </a:solidFill>
                <a:latin typeface="Inter"/>
              </a:defRPr>
            </a:pPr>
            <a:r>
              <a:t>Premium design systems and core peer-to-peer transaction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3227832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0F2FE"/>
                </a:solidFill>
                <a:latin typeface="Inter"/>
              </a:defRPr>
            </a:pPr>
            <a:r>
              <a:t>Design System (HSL)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  <a:latin typeface="Inter"/>
              </a:defRPr>
            </a:pPr>
            <a:r>
              <a:t>Cyberpunk Glassmorphism</a:t>
            </a:r>
          </a:p>
          <a:p>
            <a:br/>
            <a:pPr>
              <a:spcBef>
                <a:spcPts val="5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Harmonized Dark HSL variables mapping back-drops, border-effects, glows, and responsive typography.</a:t>
            </a:r>
            <a:br/>
            <a:br/>
            <a:r>
              <a:t>• Background: 224 25% 4%</a:t>
            </a:r>
            <a:br/>
            <a:r>
              <a:t>• Card: 224 25% 6%</a:t>
            </a:r>
            <a:br/>
            <a:r>
              <a:t>• Border: 220 20% 12%</a:t>
            </a:r>
            <a:br/>
            <a:r>
              <a:t>• Glows: backdrop-filter blur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645920"/>
            <a:ext cx="3227832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0F2FE"/>
                </a:solidFill>
                <a:latin typeface="Inter"/>
              </a:defRPr>
            </a:pPr>
            <a:r>
              <a:t>Fundraising Listings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  <a:latin typeface="Inter"/>
              </a:defRPr>
            </a:pPr>
            <a:r>
              <a:t>P2P Commercial Notes</a:t>
            </a:r>
          </a:p>
          <a:p>
            <a:br/>
            <a:pPr>
              <a:spcBef>
                <a:spcPts val="5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Fully interactive campaign lists with dynamic progress bars, ledger fractional purchases, and escrow wallet settlements.</a:t>
            </a:r>
            <a:br/>
            <a:br/>
            <a:r>
              <a:t>• P2P Commercial Notes</a:t>
            </a:r>
            <a:br/>
            <a:r>
              <a:t>• Y-Combinator SAFE equity</a:t>
            </a:r>
            <a:br/>
            <a:r>
              <a:t>• live escrow allocations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3227832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0F2FE"/>
                </a:solidFill>
                <a:latin typeface="Inter"/>
              </a:defRPr>
            </a:pPr>
            <a:r>
              <a:t>Network Directory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  <a:latin typeface="Inter"/>
              </a:defRPr>
            </a:pPr>
            <a:r>
              <a:t>Symmetrical P2P Handshake</a:t>
            </a:r>
          </a:p>
          <a:p>
            <a:br/>
            <a:pPr>
              <a:spcBef>
                <a:spcPts val="5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Global search and directory with instant biometrics handshake matching, active connection states, and LinkedIn DMs.</a:t>
            </a:r>
            <a:br/>
            <a:br/>
            <a:r>
              <a:t>• Symmetrical DM channels</a:t>
            </a:r>
            <a:br/>
            <a:r>
              <a:t>• Credentials status checks</a:t>
            </a:r>
            <a:br/>
            <a:r>
              <a:t>• In-app sandbox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Inter"/>
              </a:defRPr>
            </a:pPr>
            <a:r>
              <a:t>PHASE 2: Proprietary Risk Index (PRI) Credit Engine</a:t>
            </a:r>
          </a:p>
          <a:p>
            <a:pPr>
              <a:spcBef>
                <a:spcPts val="500"/>
              </a:spcBef>
              <a:defRPr sz="1200">
                <a:solidFill>
                  <a:srgbClr val="A3A3A3"/>
                </a:solidFill>
                <a:latin typeface="Inter"/>
              </a:defRPr>
            </a:pPr>
            <a:r>
              <a:t>Four-layer underwriting scoring matrix with real-time API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Layer 0: Identity &amp; Fraud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Sanctions/PEP screens, device fingerprints, and synthetic identity risk anomalies.</a:t>
            </a:r>
          </a:p>
          <a:p>
            <a:pPr>
              <a:spcBef>
                <a:spcPts val="12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Layer 1: Bureau BCS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Bureau credit tier (300-850), tradelines count, utilization ratios, and inquiry audit.</a:t>
            </a:r>
          </a:p>
          <a:p>
            <a:pPr>
              <a:spcBef>
                <a:spcPts val="12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Layer 2: BRS (Behavioral Risk Score)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Connects payroll (ADP/Paychex) and Plaid bank feeds to isolate gross-to-net paychecks, tax withholdings, mandatory obligations, and discretionary spends.</a:t>
            </a:r>
          </a:p>
          <a:p>
            <a:pPr>
              <a:spcBef>
                <a:spcPts val="12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Layer 3: Public Records Check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Tax liens, legal judgments, historical bankruptcies, and years since discharge.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645920"/>
            <a:ext cx="4572000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B981"/>
                </a:solidFill>
                <a:latin typeface="Inter"/>
              </a:defRPr>
            </a:pPr>
            <a:r>
              <a:t>⚡ THE BUREAU-BYPASS PARADIGM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Credit bureaus are lagging databases. High-earning, cash-flow stable founders often have thin credit files or lack debt history, leading to low FICO ratings.</a:t>
            </a:r>
            <a:br/>
            <a:br/>
            <a:r>
              <a:t>Our modern credit engine introduces a dynamic override: if ADP/Paychex and Plaid accounts are successfully connected, traditional Bureau FICO weight drops to 10%, while cash flow metrics take 90% weight.</a:t>
            </a:r>
            <a:br/>
            <a:br/>
            <a:r>
              <a:t>BRS evaluates:</a:t>
            </a:r>
            <a:br/>
            <a:r>
              <a:t>•  Gross-to-net W-2 paycheck stability</a:t>
            </a:r>
            <a:br/>
            <a:r>
              <a:t>•  Pre-tax deductions (401k/HSA)</a:t>
            </a:r>
            <a:br/>
            <a:r>
              <a:t>•  Discretionary shopping burn velocity</a:t>
            </a:r>
            <a:br/>
            <a:r>
              <a:t>•  Debt-to-Disposable-Income (DDI) margins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Inter"/>
              </a:defRPr>
            </a:pPr>
            <a:r>
              <a:t>UNDERWRITING CONTRAST: High Earner vs Responsible Saver</a:t>
            </a:r>
          </a:p>
          <a:p>
            <a:pPr>
              <a:spcBef>
                <a:spcPts val="500"/>
              </a:spcBef>
              <a:defRPr sz="1200">
                <a:solidFill>
                  <a:srgbClr val="A3A3A3"/>
                </a:solidFill>
                <a:latin typeface="Inter"/>
              </a:defRPr>
            </a:pPr>
            <a:r>
              <a:t>Dynamic Bureau-Bypass results demonstrating true cash flow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solidFill>
            <a:srgbClr val="161C2D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43F5E"/>
                </a:solidFill>
                <a:latin typeface="Inter"/>
              </a:defRPr>
            </a:pPr>
            <a:r>
              <a:t>DEVON VANCE (AURORA SYSTEMS)</a:t>
            </a:r>
          </a:p>
          <a:p>
            <a:pPr>
              <a:spcBef>
                <a:spcPts val="200"/>
              </a:spcBef>
              <a:defRPr sz="1050" b="1">
                <a:solidFill>
                  <a:srgbClr val="A3A3A3"/>
                </a:solidFill>
                <a:latin typeface="Inter"/>
              </a:defRPr>
            </a:pPr>
            <a:r>
              <a:t>High Income / High Lifestyle Burn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•  Traditional FICO: 610 (Thin file / Fair)</a:t>
            </a:r>
            <a:br/>
            <a:r>
              <a:t>•  ADP Verified Annual Gross: $500,000</a:t>
            </a:r>
            <a:br/>
            <a:r>
              <a:t>•  California Tax Deductions: $18,000/mo</a:t>
            </a:r>
            <a:br/>
            <a:r>
              <a:t>•  Monthly Net Take-Home: $21,500/mo</a:t>
            </a:r>
            <a:br/>
            <a:r>
              <a:t>•  Plaid Mandatory Debts: $8,500/mo</a:t>
            </a:r>
            <a:br/>
            <a:r>
              <a:t>•  Plaid Discretionary Burn: $11,500/mo (Luxury)</a:t>
            </a:r>
            <a:br/>
            <a:r>
              <a:t>•  Revolving Cards: Maxed Out (85% Util)</a:t>
            </a:r>
            <a:br/>
            <a:r>
              <a:t>•  Monthly Savings Rate: 6.9% ($1,500 surplus)</a:t>
            </a:r>
            <a:br/>
            <a:br/>
            <a:r>
              <a:t>UNDERWRITING RESULT: DECLINED (PRI 520 - P5)</a:t>
            </a:r>
            <a:br/>
            <a:r>
              <a:t>Severe default hazard due to zero cushion reserves.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solidFill>
            <a:srgbClr val="16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  <a:latin typeface="Inter"/>
              </a:defRPr>
            </a:pPr>
            <a:r>
              <a:t>ELENA ROSTOVA (NEUROWEB AI)</a:t>
            </a:r>
          </a:p>
          <a:p>
            <a:pPr>
              <a:spcBef>
                <a:spcPts val="200"/>
              </a:spcBef>
              <a:defRPr sz="1050" b="1">
                <a:solidFill>
                  <a:srgbClr val="A3A3A3"/>
                </a:solidFill>
                <a:latin typeface="Inter"/>
              </a:defRPr>
            </a:pPr>
            <a:r>
              <a:t>Moderate Income / High Cash Cushion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•  Traditional FICO: 620 (Thin file / Fair)</a:t>
            </a:r>
            <a:br/>
            <a:r>
              <a:t>•  ADP Verified Annual Gross: $160,000</a:t>
            </a:r>
            <a:br/>
            <a:r>
              <a:t>•  Tax Deductions: Optimized at $2,600/mo</a:t>
            </a:r>
            <a:br/>
            <a:r>
              <a:t>•  Monthly Net Take-Home: $9,200/mo</a:t>
            </a:r>
            <a:br/>
            <a:r>
              <a:t>•  Plaid Mandatory Debts: $1,800/mo</a:t>
            </a:r>
            <a:br/>
            <a:r>
              <a:t>•  Plaid Discretionary Burn: $1,100/mo (Disciplined)</a:t>
            </a:r>
            <a:br/>
            <a:r>
              <a:t>•  Revolving Cards: Zero Debt (15% Util)</a:t>
            </a:r>
            <a:br/>
            <a:r>
              <a:t>•  Monthly Savings Rate: 68.4% ($6,300 surplus)</a:t>
            </a:r>
            <a:br/>
            <a:br/>
            <a:r>
              <a:t>UNDERWRITING RESULT: APPROVED (PRI 780 - P2)</a:t>
            </a:r>
            <a:br/>
            <a:r>
              <a:t>FICO overridden. High capital limit issued due to massive cash flow buffer and strong financial discipline.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Inter"/>
              </a:defRPr>
            </a:pPr>
            <a:r>
              <a:t>PHASE 2: Premium SaaS &amp; Automation Suites</a:t>
            </a:r>
          </a:p>
          <a:p>
            <a:pPr>
              <a:spcBef>
                <a:spcPts val="500"/>
              </a:spcBef>
              <a:defRPr sz="1200">
                <a:solidFill>
                  <a:srgbClr val="A3A3A3"/>
                </a:solidFill>
                <a:latin typeface="Inter"/>
              </a:defRPr>
            </a:pPr>
            <a:r>
              <a:t>Automated tax systems, accounts payable, and crowd SPV prep panels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0F2FE"/>
                </a:solidFill>
                <a:latin typeface="Inter"/>
              </a:defRPr>
            </a:pPr>
            <a:r>
              <a:t>LENDER PRO SYSTEM ($29/mo)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•  Auto-Invest matching engine sweeps: Monitors launching commercial notes, matching risk bounds &amp; target yields in real time.</a:t>
            </a:r>
            <a:br/>
            <a:br/>
            <a:r>
              <a:t>•  Escrow splitting: Executes direct ledger allocations (fractional notes split dynamically).</a:t>
            </a:r>
            <a:br/>
            <a:br/>
            <a:r>
              <a:t>•  Form 1099-INT Compiler: Automatically compiles interest income earned. Clicking generates a high-fidelity interactive IRS Form 1099-INT modal.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  <a:latin typeface="Inter"/>
              </a:defRPr>
            </a:pPr>
            <a:r>
              <a:t>FOUNDER PRO AUTOMATION ($49/mo)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•  Accounts Payable AP Console: Outstanding invoice tracking, cash runway forecasting, and auto-bill adjustments.</a:t>
            </a:r>
            <a:br/>
            <a:br/>
            <a:r>
              <a:t>•  Chore Delegation: Delegates legal/accounting review chores to verified affiliates with escrow-locked incentives.</a:t>
            </a:r>
            <a:br/>
            <a:br/>
            <a:r>
              <a:t>•  SEC Form C Compliance Prep: Pre-populates W-2 disclosures, cap tables, and past round details into SEC template sheets.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Inter"/>
              </a:defRPr>
            </a:pPr>
            <a:r>
              <a:t>PHASE 3: Autonomous AI Agent Brokerage</a:t>
            </a:r>
          </a:p>
          <a:p>
            <a:pPr>
              <a:spcBef>
                <a:spcPts val="500"/>
              </a:spcBef>
              <a:defRPr sz="1200">
                <a:solidFill>
                  <a:srgbClr val="A3A3A3"/>
                </a:solidFill>
                <a:latin typeface="Inter"/>
              </a:defRPr>
            </a:pPr>
            <a:r>
              <a:t>Multi-agent autonomous brokerage, compliance auditing, and rate negotiation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CapitalAgent (Investor AI)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Parses startup offering prospectuses, evaluates ARR curves, checks BRS cash flows, and triggers fraction escrow bids on syndicates.</a:t>
            </a:r>
          </a:p>
          <a:p>
            <a:pPr>
              <a:spcBef>
                <a:spcPts val="15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FounderAgent (Entrepreneur AI)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Optimizes commercial note interest terms based on modern savings rate, updates cap tables, and manages accounts payable schedules.</a:t>
            </a:r>
          </a:p>
          <a:p>
            <a:pPr>
              <a:spcBef>
                <a:spcPts val="15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AuditAgent (Affiliate Compliance AI)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Performs passport liveness validation, accredited checks, and W-9 audits, claiming transaction commission fees.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645920"/>
            <a:ext cx="4572000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B981"/>
                </a:solidFill>
                <a:latin typeface="Inter"/>
              </a:defRPr>
            </a:pPr>
            <a:r>
              <a:t>🤝 INTERACTIVE RATE NEGOTIATOR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Within AIAgentHub.js, users can trigger a live negotiation simulator:</a:t>
            </a:r>
            <a:br/>
            <a:br/>
            <a:r>
              <a:t>1. Pitch: FounderAgent requests a commercial note at 6.5% APR based on their optimized BRS cash flow.</a:t>
            </a:r>
            <a:br/>
            <a:br/>
            <a:r>
              <a:t>2. Counter: CapitalAgent analyzes FICO metrics, counter-pitching 9.5% APR to mitigate thin credit.</a:t>
            </a:r>
            <a:br/>
            <a:br/>
            <a:r>
              <a:t>3. Settlement: Agents run mathematical calculations, converging on an optimum 7.8% APR.</a:t>
            </a:r>
            <a:br/>
            <a:br/>
            <a:r>
              <a:t>4. Immutable Vault: Generates a Promissory Note and prints a secure SHA-256 cryptographic signature.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2FE"/>
                </a:solidFill>
                <a:latin typeface="Inter"/>
              </a:defRPr>
            </a:pPr>
            <a:r>
              <a:t>Tech Stack, Build Metrics &amp; Vetting</a:t>
            </a:r>
          </a:p>
          <a:p>
            <a:pPr>
              <a:spcBef>
                <a:spcPts val="500"/>
              </a:spcBef>
              <a:defRPr sz="1200">
                <a:solidFill>
                  <a:srgbClr val="A3A3A3"/>
                </a:solidFill>
                <a:latin typeface="Inter"/>
              </a:defRPr>
            </a:pPr>
            <a:r>
              <a:t>Next.js production compiler benchmarks and code base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Premium Web Framework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Next.js 16 (Turbopack) &amp; React client-side hooks</a:t>
            </a:r>
          </a:p>
          <a:p>
            <a:pPr>
              <a:spcBef>
                <a:spcPts val="15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Global State Engine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usePeerBridge.js custom telemetry controller</a:t>
            </a:r>
          </a:p>
          <a:p>
            <a:pPr>
              <a:spcBef>
                <a:spcPts val="15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Core Styling System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Custom CSS Variables mapped in HSL dark variables</a:t>
            </a:r>
          </a:p>
          <a:p>
            <a:pPr>
              <a:spcBef>
                <a:spcPts val="1500"/>
              </a:spcBef>
              <a:defRPr sz="1400" b="1">
                <a:solidFill>
                  <a:srgbClr val="00F2FE"/>
                </a:solidFill>
                <a:latin typeface="Inter"/>
              </a:defRPr>
            </a:pPr>
            <a:r>
              <a:t>•  Relational Database Path</a:t>
            </a:r>
          </a:p>
          <a:p>
            <a:pPr>
              <a:spcBef>
                <a:spcPts val="200"/>
              </a:spcBef>
              <a:defRPr sz="1050">
                <a:solidFill>
                  <a:srgbClr val="A3A3A3"/>
                </a:solidFill>
                <a:latin typeface="Inter"/>
              </a:defRPr>
            </a:pPr>
            <a:r>
              <a:t>Firebase Cloud Firestore (11 Collections)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645920"/>
            <a:ext cx="4572000" cy="4114800"/>
          </a:xfrm>
          <a:prstGeom prst="rect">
            <a:avLst/>
          </a:prstGeom>
          <a:solidFill>
            <a:srgbClr val="161C2D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0B981"/>
                </a:solidFill>
                <a:latin typeface="Inter"/>
              </a:defRPr>
            </a:pPr>
            <a:r>
              <a:t>📈 COMPILER BUILD METRICS</a:t>
            </a:r>
          </a:p>
          <a:p>
            <a:br/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•  Turbopack Compile: 3.2 seconds</a:t>
            </a:r>
            <a:br/>
            <a:r>
              <a:t>•  TypeScript Validation: 123ms</a:t>
            </a:r>
            <a:br/>
            <a:r>
              <a:t>•  Runtime warnings: Zero (0)</a:t>
            </a:r>
            <a:br/>
            <a:r>
              <a:t>•  Runtime errors: Zero (0)</a:t>
            </a:r>
            <a:br/>
            <a:br/>
            <a:r>
              <a:t>•  User Interface Vetting:</a:t>
            </a:r>
            <a:br/>
            <a:r>
              <a:t>Premium dark-mode responsive glassmorphic cards with dynamic hover micro-animations fully compatible across mobile and widescreen viewports.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